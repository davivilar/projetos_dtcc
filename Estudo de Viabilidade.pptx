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FDCE-0D1C-4A65-AFAD-F7CE75303C1A}" type="datetimeFigureOut">
              <a:rPr lang="pt-BR" smtClean="0"/>
              <a:t>27/02/2014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2146-273A-4F6F-906E-55AF841A658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FDCE-0D1C-4A65-AFAD-F7CE75303C1A}" type="datetimeFigureOut">
              <a:rPr lang="pt-BR" smtClean="0"/>
              <a:t>27/02/2014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2146-273A-4F6F-906E-55AF841A658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FDCE-0D1C-4A65-AFAD-F7CE75303C1A}" type="datetimeFigureOut">
              <a:rPr lang="pt-BR" smtClean="0"/>
              <a:t>27/02/2014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2146-273A-4F6F-906E-55AF841A658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FDCE-0D1C-4A65-AFAD-F7CE75303C1A}" type="datetimeFigureOut">
              <a:rPr lang="pt-BR" smtClean="0"/>
              <a:t>27/02/2014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2146-273A-4F6F-906E-55AF841A6583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FDCE-0D1C-4A65-AFAD-F7CE75303C1A}" type="datetimeFigureOut">
              <a:rPr lang="pt-BR" smtClean="0"/>
              <a:t>27/02/2014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2146-273A-4F6F-906E-55AF841A658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FDCE-0D1C-4A65-AFAD-F7CE75303C1A}" type="datetimeFigureOut">
              <a:rPr lang="pt-BR" smtClean="0"/>
              <a:t>27/02/2014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2146-273A-4F6F-906E-55AF841A658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FDCE-0D1C-4A65-AFAD-F7CE75303C1A}" type="datetimeFigureOut">
              <a:rPr lang="pt-BR" smtClean="0"/>
              <a:t>27/02/2014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2146-273A-4F6F-906E-55AF841A658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FDCE-0D1C-4A65-AFAD-F7CE75303C1A}" type="datetimeFigureOut">
              <a:rPr lang="pt-BR" smtClean="0"/>
              <a:t>27/02/2014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1D72146-273A-4F6F-906E-55AF841A658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FDCE-0D1C-4A65-AFAD-F7CE75303C1A}" type="datetimeFigureOut">
              <a:rPr lang="pt-BR" smtClean="0"/>
              <a:t>27/02/2014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2146-273A-4F6F-906E-55AF841A658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FDCE-0D1C-4A65-AFAD-F7CE75303C1A}" type="datetimeFigureOut">
              <a:rPr lang="pt-BR" smtClean="0"/>
              <a:t>27/02/2014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2146-273A-4F6F-906E-55AF841A658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FDCE-0D1C-4A65-AFAD-F7CE75303C1A}" type="datetimeFigureOut">
              <a:rPr lang="pt-BR" smtClean="0"/>
              <a:t>27/02/2014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2146-273A-4F6F-906E-55AF841A658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E20FDCE-0D1C-4A65-AFAD-F7CE75303C1A}" type="datetimeFigureOut">
              <a:rPr lang="pt-BR" smtClean="0"/>
              <a:t>27/02/2014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F1D72146-273A-4F6F-906E-55AF841A6583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Estudo de Viabilidade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419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/>
          </a:bodyPr>
          <a:lstStyle/>
          <a:p>
            <a:r>
              <a:rPr lang="pt-BR" dirty="0" smtClean="0"/>
              <a:t>O estudo de viabilidade visa tanto a tomada de decisão quanto a análise de alternativas de solução de um sistema.</a:t>
            </a:r>
          </a:p>
          <a:p>
            <a:endParaRPr lang="pt-BR" dirty="0" smtClean="0"/>
          </a:p>
          <a:p>
            <a:r>
              <a:rPr lang="pt-BR" dirty="0" smtClean="0"/>
              <a:t>Deve oferecer informações para tomada de decisões da gerência:</a:t>
            </a:r>
          </a:p>
          <a:p>
            <a:endParaRPr lang="pt-BR" dirty="0"/>
          </a:p>
          <a:p>
            <a:pPr lvl="1"/>
            <a:r>
              <a:rPr lang="pt-BR" dirty="0" smtClean="0"/>
              <a:t>Se o projeto pode ou não ser feito</a:t>
            </a:r>
          </a:p>
          <a:p>
            <a:pPr lvl="1"/>
            <a:r>
              <a:rPr lang="pt-BR" dirty="0" smtClean="0"/>
              <a:t>Se o produto final irá ou não beneficiar usuários</a:t>
            </a:r>
          </a:p>
          <a:p>
            <a:pPr lvl="1"/>
            <a:r>
              <a:rPr lang="pt-BR" dirty="0" smtClean="0"/>
              <a:t>Escolha das alternativas entre as possíveis soluções</a:t>
            </a:r>
          </a:p>
          <a:p>
            <a:pPr lvl="1"/>
            <a:r>
              <a:rPr lang="pt-BR" dirty="0" smtClean="0"/>
              <a:t>A melhor </a:t>
            </a:r>
            <a:r>
              <a:rPr lang="pt-BR" dirty="0" err="1" smtClean="0"/>
              <a:t>altenativa</a:t>
            </a:r>
            <a:r>
              <a:rPr lang="pt-BR" dirty="0" smtClean="0"/>
              <a:t>?</a:t>
            </a:r>
          </a:p>
          <a:p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66539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devemos estudar?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>
            <a:normAutofit/>
          </a:bodyPr>
          <a:lstStyle/>
          <a:p>
            <a:r>
              <a:rPr lang="pt-BR" dirty="0"/>
              <a:t>o sistema organizacional apresentado, incluindo usuários, </a:t>
            </a:r>
            <a:r>
              <a:rPr lang="pt-BR" dirty="0" smtClean="0"/>
              <a:t>políticas, funções</a:t>
            </a:r>
            <a:r>
              <a:rPr lang="pt-BR" dirty="0"/>
              <a:t>, objetivos,...</a:t>
            </a:r>
          </a:p>
          <a:p>
            <a:r>
              <a:rPr lang="pt-BR" dirty="0"/>
              <a:t> problemas com o sistema apresentado ( </a:t>
            </a:r>
            <a:r>
              <a:rPr lang="pt-BR" dirty="0" smtClean="0"/>
              <a:t>inconsistências, funcionalidades </a:t>
            </a:r>
            <a:r>
              <a:rPr lang="pt-BR" dirty="0"/>
              <a:t>inadequadas, performance,...,</a:t>
            </a:r>
          </a:p>
          <a:p>
            <a:r>
              <a:rPr lang="pt-BR" dirty="0"/>
              <a:t> objetivos e outros requisitos para o novo sistema (o que </a:t>
            </a:r>
            <a:r>
              <a:rPr lang="pt-BR" dirty="0" smtClean="0"/>
              <a:t>precisa mudar</a:t>
            </a:r>
            <a:r>
              <a:rPr lang="pt-BR" dirty="0"/>
              <a:t>?)</a:t>
            </a:r>
          </a:p>
          <a:p>
            <a:r>
              <a:rPr lang="pt-BR" dirty="0"/>
              <a:t> restrições, incluindo requisitos não-funcionais do </a:t>
            </a:r>
            <a:r>
              <a:rPr lang="pt-BR" dirty="0" smtClean="0"/>
              <a:t>sistema (superficialmente</a:t>
            </a:r>
            <a:r>
              <a:rPr lang="pt-BR" dirty="0"/>
              <a:t>)</a:t>
            </a:r>
          </a:p>
          <a:p>
            <a:r>
              <a:rPr lang="pt-BR" dirty="0"/>
              <a:t> alternativas possíveis (o sistema atual é geralmente uma </a:t>
            </a:r>
            <a:r>
              <a:rPr lang="pt-BR" dirty="0" smtClean="0"/>
              <a:t>das alternativas</a:t>
            </a:r>
            <a:r>
              <a:rPr lang="pt-BR" dirty="0"/>
              <a:t>)</a:t>
            </a:r>
          </a:p>
          <a:p>
            <a:r>
              <a:rPr lang="pt-BR" dirty="0"/>
              <a:t> vantagens e desvantagens das alternativas</a:t>
            </a:r>
          </a:p>
        </p:txBody>
      </p:sp>
    </p:spTree>
    <p:extLst>
      <p:ext uri="{BB962C8B-B14F-4D97-AF65-F5344CB8AC3E}">
        <p14:creationId xmlns:p14="http://schemas.microsoft.com/office/powerpoint/2010/main" val="281165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concluir 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 smtClean="0"/>
          </a:p>
          <a:p>
            <a:r>
              <a:rPr lang="pt-BR" dirty="0" smtClean="0"/>
              <a:t>Viabilidade </a:t>
            </a:r>
            <a:r>
              <a:rPr lang="pt-BR" dirty="0"/>
              <a:t>do </a:t>
            </a:r>
            <a:r>
              <a:rPr lang="pt-BR" dirty="0" smtClean="0"/>
              <a:t>projeto</a:t>
            </a:r>
          </a:p>
          <a:p>
            <a:endParaRPr lang="pt-BR" dirty="0"/>
          </a:p>
          <a:p>
            <a:r>
              <a:rPr lang="pt-BR" dirty="0"/>
              <a:t> A alternativa preferida</a:t>
            </a:r>
          </a:p>
        </p:txBody>
      </p:sp>
    </p:spTree>
    <p:extLst>
      <p:ext uri="{BB962C8B-B14F-4D97-AF65-F5344CB8AC3E}">
        <p14:creationId xmlns:p14="http://schemas.microsoft.com/office/powerpoint/2010/main" val="201017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Testes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Viabilidade operacional </a:t>
            </a:r>
            <a:r>
              <a:rPr lang="pt-BR" dirty="0"/>
              <a:t>é uma medida do grau de adequação </a:t>
            </a:r>
            <a:r>
              <a:rPr lang="pt-BR" dirty="0" smtClean="0"/>
              <a:t>da solução </a:t>
            </a:r>
            <a:r>
              <a:rPr lang="pt-BR" dirty="0"/>
              <a:t>para a organização. </a:t>
            </a:r>
            <a:endParaRPr lang="pt-BR" dirty="0" smtClean="0"/>
          </a:p>
          <a:p>
            <a:endParaRPr lang="pt-BR" dirty="0"/>
          </a:p>
          <a:p>
            <a:r>
              <a:rPr lang="pt-BR" dirty="0"/>
              <a:t> </a:t>
            </a:r>
            <a:r>
              <a:rPr lang="pt-BR" b="1" dirty="0"/>
              <a:t>Viabilidade técnica </a:t>
            </a:r>
            <a:r>
              <a:rPr lang="pt-BR" dirty="0"/>
              <a:t>é uma avaliação da </a:t>
            </a:r>
            <a:r>
              <a:rPr lang="pt-BR" dirty="0" smtClean="0"/>
              <a:t> praticidade </a:t>
            </a:r>
            <a:r>
              <a:rPr lang="pt-BR" dirty="0"/>
              <a:t>de </a:t>
            </a:r>
            <a:r>
              <a:rPr lang="pt-BR" dirty="0" smtClean="0"/>
              <a:t>uma solução </a:t>
            </a:r>
            <a:r>
              <a:rPr lang="pt-BR" dirty="0"/>
              <a:t>técnica específica e a disponibilidade dos </a:t>
            </a:r>
            <a:r>
              <a:rPr lang="pt-BR" dirty="0" smtClean="0"/>
              <a:t>recursos técnicos </a:t>
            </a:r>
            <a:r>
              <a:rPr lang="pt-BR" dirty="0"/>
              <a:t>e dos especialistas.</a:t>
            </a:r>
          </a:p>
        </p:txBody>
      </p:sp>
    </p:spTree>
    <p:extLst>
      <p:ext uri="{BB962C8B-B14F-4D97-AF65-F5344CB8AC3E}">
        <p14:creationId xmlns:p14="http://schemas.microsoft.com/office/powerpoint/2010/main" val="285697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Testes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Viabilidade de cronograma </a:t>
            </a:r>
            <a:r>
              <a:rPr lang="pt-BR" dirty="0"/>
              <a:t>é uma avaliação de quão </a:t>
            </a:r>
            <a:r>
              <a:rPr lang="pt-BR" dirty="0" smtClean="0"/>
              <a:t>razoável está </a:t>
            </a:r>
            <a:r>
              <a:rPr lang="pt-BR" dirty="0"/>
              <a:t>o cronograma do projeto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/>
              <a:t> </a:t>
            </a:r>
            <a:r>
              <a:rPr lang="pt-BR" b="1" dirty="0"/>
              <a:t>Viabilidade econômica </a:t>
            </a:r>
            <a:r>
              <a:rPr lang="pt-BR" dirty="0"/>
              <a:t>é uma avaliação de custo-eficiência </a:t>
            </a:r>
            <a:r>
              <a:rPr lang="pt-BR" dirty="0" smtClean="0"/>
              <a:t>de um </a:t>
            </a:r>
            <a:r>
              <a:rPr lang="pt-BR" dirty="0"/>
              <a:t>projeto ou solução. Conhecida como análise de </a:t>
            </a:r>
            <a:r>
              <a:rPr lang="pt-BR" dirty="0" smtClean="0"/>
              <a:t>custo benefício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9277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Viabilidade Operacional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Avalia a urgência do problema (visão e fases de </a:t>
            </a:r>
            <a:r>
              <a:rPr lang="pt-BR" dirty="0" smtClean="0"/>
              <a:t>estudo) ou </a:t>
            </a:r>
            <a:r>
              <a:rPr lang="pt-BR" dirty="0"/>
              <a:t>a aceitação da solução (definição, </a:t>
            </a:r>
            <a:r>
              <a:rPr lang="pt-BR" dirty="0" smtClean="0"/>
              <a:t>seleção, aquisição</a:t>
            </a:r>
            <a:r>
              <a:rPr lang="pt-BR" dirty="0"/>
              <a:t>, e fases do projeto).</a:t>
            </a:r>
          </a:p>
          <a:p>
            <a:r>
              <a:rPr lang="pt-BR" dirty="0"/>
              <a:t> Existem dois aspectos da viabilidade operacional </a:t>
            </a:r>
            <a:r>
              <a:rPr lang="pt-BR" dirty="0" smtClean="0"/>
              <a:t>a serem </a:t>
            </a:r>
            <a:r>
              <a:rPr lang="pt-BR" dirty="0"/>
              <a:t>considerados:</a:t>
            </a:r>
          </a:p>
          <a:p>
            <a:pPr lvl="1"/>
            <a:r>
              <a:rPr lang="pt-BR" dirty="0"/>
              <a:t> O problema vale a pena ser resolvido ou a solução </a:t>
            </a:r>
            <a:r>
              <a:rPr lang="pt-BR" dirty="0" smtClean="0"/>
              <a:t>proposta para </a:t>
            </a:r>
            <a:r>
              <a:rPr lang="pt-BR" dirty="0"/>
              <a:t>o problema funcionará?</a:t>
            </a:r>
          </a:p>
          <a:p>
            <a:pPr lvl="1"/>
            <a:r>
              <a:rPr lang="pt-BR" dirty="0"/>
              <a:t> Como o usuário final e a gerência sentem sobre o </a:t>
            </a:r>
            <a:r>
              <a:rPr lang="pt-BR" dirty="0" smtClean="0"/>
              <a:t>problema (solução</a:t>
            </a:r>
            <a:r>
              <a:rPr lang="pt-BR" dirty="0"/>
              <a:t>)?</a:t>
            </a:r>
          </a:p>
        </p:txBody>
      </p:sp>
    </p:spTree>
    <p:extLst>
      <p:ext uri="{BB962C8B-B14F-4D97-AF65-F5344CB8AC3E}">
        <p14:creationId xmlns:p14="http://schemas.microsoft.com/office/powerpoint/2010/main" val="335467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Viabilidade Operacional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problema vale a pena ser resolvido ou a solução </a:t>
            </a:r>
            <a:r>
              <a:rPr lang="pt-BR" dirty="0" smtClean="0"/>
              <a:t>proposta para </a:t>
            </a:r>
            <a:r>
              <a:rPr lang="pt-BR" dirty="0"/>
              <a:t>o problema funcionará?</a:t>
            </a:r>
          </a:p>
          <a:p>
            <a:pPr lvl="1"/>
            <a:r>
              <a:rPr lang="pt-BR" dirty="0"/>
              <a:t> Estrutura PIECES:</a:t>
            </a:r>
          </a:p>
          <a:p>
            <a:pPr lvl="2"/>
            <a:r>
              <a:rPr lang="pt-BR" dirty="0"/>
              <a:t> </a:t>
            </a:r>
            <a:r>
              <a:rPr lang="pt-BR" b="1" dirty="0" smtClean="0"/>
              <a:t>P</a:t>
            </a:r>
            <a:r>
              <a:rPr lang="pt-BR" dirty="0" smtClean="0"/>
              <a:t>erformance </a:t>
            </a:r>
            <a:r>
              <a:rPr lang="pt-BR" dirty="0"/>
              <a:t>-- O modo atual de operação oferece </a:t>
            </a:r>
            <a:r>
              <a:rPr lang="pt-BR" dirty="0" smtClean="0"/>
              <a:t>vazão (</a:t>
            </a:r>
            <a:r>
              <a:rPr lang="pt-BR" i="1" dirty="0" err="1" smtClean="0"/>
              <a:t>throughput</a:t>
            </a:r>
            <a:r>
              <a:rPr lang="pt-BR" i="1" dirty="0"/>
              <a:t>) </a:t>
            </a:r>
            <a:r>
              <a:rPr lang="pt-BR" dirty="0"/>
              <a:t>adequado e tempo de resposta também?</a:t>
            </a:r>
          </a:p>
          <a:p>
            <a:pPr lvl="2"/>
            <a:r>
              <a:rPr lang="pt-BR" dirty="0"/>
              <a:t> </a:t>
            </a:r>
            <a:r>
              <a:rPr lang="pt-BR" b="1" dirty="0"/>
              <a:t>I</a:t>
            </a:r>
            <a:r>
              <a:rPr lang="pt-BR" dirty="0"/>
              <a:t>nformação -- O modo atual de operação oferece ao </a:t>
            </a:r>
            <a:r>
              <a:rPr lang="pt-BR" dirty="0" smtClean="0"/>
              <a:t>usuário final </a:t>
            </a:r>
            <a:r>
              <a:rPr lang="pt-BR" dirty="0"/>
              <a:t>e gerentes informações formatadas corretas, </a:t>
            </a:r>
            <a:r>
              <a:rPr lang="pt-BR" dirty="0" smtClean="0"/>
              <a:t>úteis, pertinentes </a:t>
            </a:r>
            <a:r>
              <a:rPr lang="pt-BR" dirty="0"/>
              <a:t>e com tempo adequado?</a:t>
            </a:r>
          </a:p>
          <a:p>
            <a:pPr lvl="2"/>
            <a:r>
              <a:rPr lang="pt-BR" dirty="0"/>
              <a:t> </a:t>
            </a:r>
            <a:r>
              <a:rPr lang="pt-BR" b="1" dirty="0"/>
              <a:t>E</a:t>
            </a:r>
            <a:r>
              <a:rPr lang="pt-BR" dirty="0"/>
              <a:t>conomia -- O modo atual de operação oferece serviços </a:t>
            </a:r>
            <a:r>
              <a:rPr lang="pt-BR" dirty="0" smtClean="0"/>
              <a:t>de informação </a:t>
            </a:r>
            <a:r>
              <a:rPr lang="pt-BR" dirty="0"/>
              <a:t>com custo/eficiência adequados para </a:t>
            </a:r>
            <a:r>
              <a:rPr lang="pt-BR" dirty="0" smtClean="0"/>
              <a:t>a organização</a:t>
            </a:r>
            <a:r>
              <a:rPr lang="pt-BR" dirty="0"/>
              <a:t>? Poderia haver uma redução nos custos e/ou </a:t>
            </a:r>
            <a:r>
              <a:rPr lang="pt-BR" dirty="0" smtClean="0"/>
              <a:t>um crescimento </a:t>
            </a:r>
            <a:r>
              <a:rPr lang="pt-BR" dirty="0"/>
              <a:t>nos benefícios?</a:t>
            </a:r>
          </a:p>
        </p:txBody>
      </p:sp>
    </p:spTree>
    <p:extLst>
      <p:ext uri="{BB962C8B-B14F-4D97-AF65-F5344CB8AC3E}">
        <p14:creationId xmlns:p14="http://schemas.microsoft.com/office/powerpoint/2010/main" val="1917119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Viabilidade Operacional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Estrutura PIECES:</a:t>
            </a:r>
          </a:p>
          <a:p>
            <a:pPr lvl="1"/>
            <a:r>
              <a:rPr lang="pt-BR" dirty="0"/>
              <a:t> </a:t>
            </a:r>
            <a:r>
              <a:rPr lang="pt-BR" b="1" dirty="0" smtClean="0"/>
              <a:t>C</a:t>
            </a:r>
            <a:r>
              <a:rPr lang="pt-BR" dirty="0" smtClean="0"/>
              <a:t>ontrole </a:t>
            </a:r>
            <a:r>
              <a:rPr lang="pt-BR" dirty="0"/>
              <a:t>-- O modo atual de operação oferece controles </a:t>
            </a:r>
            <a:r>
              <a:rPr lang="pt-BR" dirty="0" smtClean="0"/>
              <a:t>eficientes para </a:t>
            </a:r>
            <a:r>
              <a:rPr lang="pt-BR" dirty="0"/>
              <a:t>evitar fraudes e para garantir </a:t>
            </a:r>
            <a:r>
              <a:rPr lang="pt-BR" dirty="0" err="1"/>
              <a:t>corretude</a:t>
            </a:r>
            <a:r>
              <a:rPr lang="pt-BR" dirty="0"/>
              <a:t> e segurança dos </a:t>
            </a:r>
            <a:r>
              <a:rPr lang="pt-BR" dirty="0" smtClean="0"/>
              <a:t>dados e </a:t>
            </a:r>
            <a:r>
              <a:rPr lang="pt-BR" dirty="0"/>
              <a:t>informações</a:t>
            </a:r>
            <a:r>
              <a:rPr lang="pt-BR" dirty="0" smtClean="0"/>
              <a:t>?</a:t>
            </a:r>
          </a:p>
          <a:p>
            <a:endParaRPr lang="pt-BR" dirty="0"/>
          </a:p>
          <a:p>
            <a:pPr lvl="1"/>
            <a:r>
              <a:rPr lang="pt-BR" dirty="0"/>
              <a:t> </a:t>
            </a:r>
            <a:r>
              <a:rPr lang="pt-BR" b="1" dirty="0"/>
              <a:t>E</a:t>
            </a:r>
            <a:r>
              <a:rPr lang="pt-BR" dirty="0"/>
              <a:t>ficiência -- O modo atual de operação faz o máximo uso </a:t>
            </a:r>
            <a:r>
              <a:rPr lang="pt-BR" dirty="0" smtClean="0"/>
              <a:t>dos recursos </a:t>
            </a:r>
            <a:r>
              <a:rPr lang="pt-BR" dirty="0"/>
              <a:t>disponíveis, incluindo pessoas, tempo e fluxo </a:t>
            </a:r>
            <a:r>
              <a:rPr lang="pt-BR" dirty="0" smtClean="0"/>
              <a:t>de modelos,...?</a:t>
            </a:r>
          </a:p>
          <a:p>
            <a:endParaRPr lang="pt-BR" dirty="0"/>
          </a:p>
          <a:p>
            <a:pPr lvl="1"/>
            <a:r>
              <a:rPr lang="pt-BR" dirty="0"/>
              <a:t> </a:t>
            </a:r>
            <a:r>
              <a:rPr lang="pt-BR" b="1" dirty="0"/>
              <a:t>S</a:t>
            </a:r>
            <a:r>
              <a:rPr lang="pt-BR" dirty="0"/>
              <a:t>erviços -- O modo atual de operação oferece serviços confiáveis? </a:t>
            </a:r>
            <a:r>
              <a:rPr lang="pt-BR" dirty="0" smtClean="0"/>
              <a:t>É flexível </a:t>
            </a:r>
            <a:r>
              <a:rPr lang="pt-BR" dirty="0"/>
              <a:t>e extensível?</a:t>
            </a:r>
          </a:p>
        </p:txBody>
      </p:sp>
    </p:spTree>
    <p:extLst>
      <p:ext uri="{BB962C8B-B14F-4D97-AF65-F5344CB8AC3E}">
        <p14:creationId xmlns:p14="http://schemas.microsoft.com/office/powerpoint/2010/main" val="27919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Viabilidade Técnica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solução ou a tecnologia proposta é prática?</a:t>
            </a:r>
          </a:p>
          <a:p>
            <a:r>
              <a:rPr lang="pt-BR" dirty="0"/>
              <a:t> Já possuímos a tecnologia necessária?</a:t>
            </a:r>
          </a:p>
          <a:p>
            <a:r>
              <a:rPr lang="pt-BR" dirty="0"/>
              <a:t> Já possuímos o conhecimento técnico necessário. </a:t>
            </a:r>
            <a:r>
              <a:rPr lang="pt-BR" dirty="0" smtClean="0"/>
              <a:t>O cronograma </a:t>
            </a:r>
            <a:r>
              <a:rPr lang="pt-BR" dirty="0"/>
              <a:t>está razoável?</a:t>
            </a:r>
          </a:p>
        </p:txBody>
      </p:sp>
    </p:spTree>
    <p:extLst>
      <p:ext uri="{BB962C8B-B14F-4D97-AF65-F5344CB8AC3E}">
        <p14:creationId xmlns:p14="http://schemas.microsoft.com/office/powerpoint/2010/main" val="3471702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Já possuímos a tecnologia necessária?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Assumindo que a tecnologia para solução seja prática:</a:t>
            </a:r>
          </a:p>
          <a:p>
            <a:pPr lvl="1"/>
            <a:r>
              <a:rPr lang="pt-BR" dirty="0"/>
              <a:t> “A tecnologia está disponível nas lojas?''</a:t>
            </a:r>
          </a:p>
          <a:p>
            <a:pPr lvl="1"/>
            <a:r>
              <a:rPr lang="pt-BR" dirty="0"/>
              <a:t>Se a tecnologia está disponível, ela tem a capacidade de </a:t>
            </a:r>
            <a:r>
              <a:rPr lang="pt-BR" dirty="0" smtClean="0"/>
              <a:t>lidar com </a:t>
            </a:r>
            <a:r>
              <a:rPr lang="pt-BR" dirty="0"/>
              <a:t>a solução proposta</a:t>
            </a:r>
            <a:r>
              <a:rPr lang="pt-BR" dirty="0" smtClean="0"/>
              <a:t>.</a:t>
            </a:r>
          </a:p>
          <a:p>
            <a:pPr marL="457200" lvl="1" indent="0">
              <a:buNone/>
            </a:pPr>
            <a:endParaRPr lang="pt-BR" dirty="0"/>
          </a:p>
          <a:p>
            <a:r>
              <a:rPr lang="pt-BR" dirty="0"/>
              <a:t> Se a tecnologia não está disponível:</a:t>
            </a:r>
          </a:p>
          <a:p>
            <a:pPr lvl="1"/>
            <a:r>
              <a:rPr lang="pt-BR" dirty="0"/>
              <a:t> “A tecnologia pode ser adquirida?''</a:t>
            </a:r>
          </a:p>
        </p:txBody>
      </p:sp>
    </p:spTree>
    <p:extLst>
      <p:ext uri="{BB962C8B-B14F-4D97-AF65-F5344CB8AC3E}">
        <p14:creationId xmlns:p14="http://schemas.microsoft.com/office/powerpoint/2010/main" val="43201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Já possuímos o conhecimento 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técnico necessário</a:t>
            </a:r>
            <a:r>
              <a:rPr lang="pt-BR" dirty="0"/>
              <a:t>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Nós podemos ter a tecnologia, mas isso não </a:t>
            </a:r>
            <a:r>
              <a:rPr lang="pt-BR" dirty="0" smtClean="0"/>
              <a:t>significa que </a:t>
            </a:r>
            <a:r>
              <a:rPr lang="pt-BR" dirty="0"/>
              <a:t>temos as habilidades requeridas para aplicar </a:t>
            </a:r>
            <a:r>
              <a:rPr lang="pt-BR" dirty="0" smtClean="0"/>
              <a:t>a tecnologia.</a:t>
            </a:r>
          </a:p>
          <a:p>
            <a:endParaRPr lang="pt-BR" dirty="0"/>
          </a:p>
          <a:p>
            <a:r>
              <a:rPr lang="pt-BR" dirty="0"/>
              <a:t> Na verdade, todos os profissionais de sistemas de </a:t>
            </a:r>
            <a:r>
              <a:rPr lang="pt-BR" dirty="0" smtClean="0"/>
              <a:t>informação podem </a:t>
            </a:r>
            <a:r>
              <a:rPr lang="pt-BR" dirty="0"/>
              <a:t>aprender novas tecnologias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/>
              <a:t>Todavia, a curva de aprendizagem terá impacto na </a:t>
            </a:r>
            <a:r>
              <a:rPr lang="pt-BR" dirty="0" smtClean="0"/>
              <a:t>viabilidade</a:t>
            </a:r>
          </a:p>
          <a:p>
            <a:endParaRPr lang="pt-BR" dirty="0"/>
          </a:p>
          <a:p>
            <a:r>
              <a:rPr lang="pt-BR" dirty="0"/>
              <a:t>técnica do projeto; especificamente, terá impacto no cronograma.</a:t>
            </a:r>
          </a:p>
        </p:txBody>
      </p:sp>
    </p:spTree>
    <p:extLst>
      <p:ext uri="{BB962C8B-B14F-4D97-AF65-F5344CB8AC3E}">
        <p14:creationId xmlns:p14="http://schemas.microsoft.com/office/powerpoint/2010/main" val="408582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Viabilidade de Cronograma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Dado nosso conhecimento técnico, os prazos </a:t>
            </a:r>
            <a:r>
              <a:rPr lang="pt-BR" dirty="0" smtClean="0"/>
              <a:t>dos projetos </a:t>
            </a:r>
            <a:r>
              <a:rPr lang="pt-BR" dirty="0"/>
              <a:t>são razoáveis</a:t>
            </a:r>
            <a:r>
              <a:rPr lang="pt-BR" dirty="0" smtClean="0"/>
              <a:t>?</a:t>
            </a:r>
          </a:p>
          <a:p>
            <a:endParaRPr lang="pt-BR" dirty="0"/>
          </a:p>
          <a:p>
            <a:r>
              <a:rPr lang="pt-BR" dirty="0"/>
              <a:t> Alguns projetos são iniciados com prazos específicos</a:t>
            </a:r>
            <a:r>
              <a:rPr lang="pt-BR" dirty="0" smtClean="0"/>
              <a:t>.</a:t>
            </a:r>
          </a:p>
          <a:p>
            <a:pPr lvl="1"/>
            <a:r>
              <a:rPr lang="pt-BR" dirty="0" smtClean="0"/>
              <a:t>Você </a:t>
            </a:r>
            <a:r>
              <a:rPr lang="pt-BR" dirty="0"/>
              <a:t>precisa determinar se os prazos são obrigatórios </a:t>
            </a:r>
            <a:r>
              <a:rPr lang="pt-BR" dirty="0" smtClean="0"/>
              <a:t>ou desejáveis.</a:t>
            </a:r>
          </a:p>
          <a:p>
            <a:pPr lvl="1"/>
            <a:r>
              <a:rPr lang="pt-BR" dirty="0" smtClean="0"/>
              <a:t>Se </a:t>
            </a:r>
            <a:r>
              <a:rPr lang="pt-BR" dirty="0"/>
              <a:t>são mais desejáveis que obrigatórios, o analista pode </a:t>
            </a:r>
            <a:r>
              <a:rPr lang="pt-BR" dirty="0" smtClean="0"/>
              <a:t>propor outros </a:t>
            </a:r>
            <a:r>
              <a:rPr lang="pt-BR" dirty="0"/>
              <a:t>cronogramas</a:t>
            </a:r>
          </a:p>
        </p:txBody>
      </p:sp>
    </p:spTree>
    <p:extLst>
      <p:ext uri="{BB962C8B-B14F-4D97-AF65-F5344CB8AC3E}">
        <p14:creationId xmlns:p14="http://schemas.microsoft.com/office/powerpoint/2010/main" val="3780110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endParaRPr lang="pt-BR" dirty="0" smtClean="0"/>
          </a:p>
          <a:p>
            <a:r>
              <a:rPr lang="pt-BR" dirty="0" smtClean="0"/>
              <a:t>Não </a:t>
            </a:r>
            <a:r>
              <a:rPr lang="pt-BR" dirty="0"/>
              <a:t>cumprir o cronograma é </a:t>
            </a:r>
            <a:r>
              <a:rPr lang="pt-BR" dirty="0" smtClean="0"/>
              <a:t>ruim</a:t>
            </a:r>
            <a:r>
              <a:rPr lang="pt-BR" dirty="0"/>
              <a:t>!</a:t>
            </a:r>
            <a:endParaRPr lang="pt-BR" dirty="0" smtClean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 Entregar sistemas inadequados é pior!</a:t>
            </a:r>
          </a:p>
        </p:txBody>
      </p:sp>
    </p:spTree>
    <p:extLst>
      <p:ext uri="{BB962C8B-B14F-4D97-AF65-F5344CB8AC3E}">
        <p14:creationId xmlns:p14="http://schemas.microsoft.com/office/powerpoint/2010/main" val="413517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Viabilidade Econômica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Talvez a mais crítica</a:t>
            </a:r>
          </a:p>
          <a:p>
            <a:pPr lvl="1"/>
            <a:r>
              <a:rPr lang="pt-BR" dirty="0"/>
              <a:t> Durante as fases iniciais do projeto, a análise da </a:t>
            </a:r>
            <a:r>
              <a:rPr lang="pt-BR" dirty="0" smtClean="0"/>
              <a:t>viabilidade econômica </a:t>
            </a:r>
            <a:r>
              <a:rPr lang="pt-BR" dirty="0"/>
              <a:t>consiste em julgar se os possíveis benefícios </a:t>
            </a:r>
            <a:r>
              <a:rPr lang="pt-BR" dirty="0" smtClean="0"/>
              <a:t>de solucionar </a:t>
            </a:r>
            <a:r>
              <a:rPr lang="pt-BR" dirty="0"/>
              <a:t>o problema são ou não vantajosos.</a:t>
            </a:r>
          </a:p>
          <a:p>
            <a:pPr lvl="1"/>
            <a:r>
              <a:rPr lang="pt-BR" dirty="0"/>
              <a:t> Tão logo os requisitos específicos e soluções </a:t>
            </a:r>
            <a:r>
              <a:rPr lang="pt-BR" dirty="0" smtClean="0"/>
              <a:t>sejam identificados</a:t>
            </a:r>
            <a:r>
              <a:rPr lang="pt-BR" dirty="0"/>
              <a:t>, o analista pode levar em consideração os </a:t>
            </a:r>
            <a:r>
              <a:rPr lang="pt-BR" dirty="0" smtClean="0"/>
              <a:t>custos e </a:t>
            </a:r>
            <a:r>
              <a:rPr lang="pt-BR" dirty="0"/>
              <a:t>benefícios de cada alternativa.</a:t>
            </a:r>
          </a:p>
          <a:p>
            <a:pPr lvl="2"/>
            <a:r>
              <a:rPr lang="pt-BR" dirty="0"/>
              <a:t>Isso é chamado de análise de custo-benefício.</a:t>
            </a:r>
          </a:p>
        </p:txBody>
      </p:sp>
    </p:spTree>
    <p:extLst>
      <p:ext uri="{BB962C8B-B14F-4D97-AF65-F5344CB8AC3E}">
        <p14:creationId xmlns:p14="http://schemas.microsoft.com/office/powerpoint/2010/main" val="225046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Custos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Custos de desenvolvimento de sistemas</a:t>
            </a:r>
          </a:p>
          <a:p>
            <a:pPr lvl="1"/>
            <a:r>
              <a:rPr lang="pt-BR" dirty="0"/>
              <a:t> </a:t>
            </a:r>
            <a:r>
              <a:rPr lang="pt-BR" b="1" dirty="0" smtClean="0"/>
              <a:t>Custos </a:t>
            </a:r>
            <a:r>
              <a:rPr lang="pt-BR" b="1" dirty="0"/>
              <a:t>de desenvolvimento e aquisição</a:t>
            </a:r>
            <a:r>
              <a:rPr lang="pt-BR" dirty="0"/>
              <a:t>: quem constrói o </a:t>
            </a:r>
            <a:r>
              <a:rPr lang="pt-BR" dirty="0" smtClean="0"/>
              <a:t>sistema (internamente </a:t>
            </a:r>
            <a:r>
              <a:rPr lang="pt-BR" dirty="0"/>
              <a:t>ou contratado por fora)? software usado (comprado </a:t>
            </a:r>
            <a:r>
              <a:rPr lang="pt-BR" dirty="0" smtClean="0"/>
              <a:t>ou construído</a:t>
            </a:r>
            <a:r>
              <a:rPr lang="pt-BR" dirty="0"/>
              <a:t>)? hardware (o que comprar, compra/aluguel)? </a:t>
            </a:r>
            <a:r>
              <a:rPr lang="pt-BR" dirty="0" smtClean="0"/>
              <a:t>Facilidades (lugar</a:t>
            </a:r>
            <a:r>
              <a:rPr lang="pt-BR" dirty="0"/>
              <a:t>, comunicações, poder,...)</a:t>
            </a:r>
          </a:p>
          <a:p>
            <a:pPr lvl="1"/>
            <a:r>
              <a:rPr lang="pt-BR" dirty="0"/>
              <a:t> </a:t>
            </a:r>
            <a:r>
              <a:rPr lang="pt-BR" b="1" dirty="0"/>
              <a:t>Custos de instalação e de conversão</a:t>
            </a:r>
            <a:r>
              <a:rPr lang="pt-BR" dirty="0"/>
              <a:t>: instalando o </a:t>
            </a:r>
            <a:r>
              <a:rPr lang="pt-BR" dirty="0" smtClean="0"/>
              <a:t>sistema, treinamento </a:t>
            </a:r>
            <a:r>
              <a:rPr lang="pt-BR" dirty="0"/>
              <a:t>do pessoal, conversão de arquivo</a:t>
            </a:r>
            <a:r>
              <a:rPr lang="pt-BR" dirty="0" smtClean="0"/>
              <a:t>,....</a:t>
            </a:r>
          </a:p>
          <a:p>
            <a:r>
              <a:rPr lang="pt-BR" dirty="0" smtClean="0"/>
              <a:t> Custos operacionais (contínuo)</a:t>
            </a:r>
          </a:p>
          <a:p>
            <a:pPr lvl="1"/>
            <a:r>
              <a:rPr lang="pt-BR" dirty="0" smtClean="0"/>
              <a:t> </a:t>
            </a:r>
            <a:r>
              <a:rPr lang="pt-BR" b="1" dirty="0"/>
              <a:t>Manutenção</a:t>
            </a:r>
            <a:r>
              <a:rPr lang="pt-BR" dirty="0"/>
              <a:t>: hardware (manutenção, aluguel, materiais,...), </a:t>
            </a:r>
            <a:r>
              <a:rPr lang="pt-BR" dirty="0" smtClean="0"/>
              <a:t>software (pagamento </a:t>
            </a:r>
            <a:r>
              <a:rPr lang="pt-BR" dirty="0"/>
              <a:t>para manutenção e contratos), facilidades</a:t>
            </a:r>
          </a:p>
          <a:p>
            <a:pPr lvl="1"/>
            <a:r>
              <a:rPr lang="pt-BR" dirty="0"/>
              <a:t> </a:t>
            </a:r>
            <a:r>
              <a:rPr lang="pt-BR" b="1" dirty="0"/>
              <a:t>Pessoal</a:t>
            </a:r>
            <a:r>
              <a:rPr lang="pt-BR" dirty="0"/>
              <a:t>: operação, manutenção</a:t>
            </a:r>
          </a:p>
        </p:txBody>
      </p:sp>
    </p:spTree>
    <p:extLst>
      <p:ext uri="{BB962C8B-B14F-4D97-AF65-F5344CB8AC3E}">
        <p14:creationId xmlns:p14="http://schemas.microsoft.com/office/powerpoint/2010/main" val="2835965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Custos de Desenvolvimento 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de </a:t>
            </a:r>
            <a:r>
              <a:rPr lang="pt-BR" dirty="0"/>
              <a:t>Sistemas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São custos que ocorrem somente uma vez.</a:t>
            </a:r>
          </a:p>
          <a:p>
            <a:r>
              <a:rPr lang="pt-BR" dirty="0"/>
              <a:t> Alguns custos de desenvolvimento de sistemas</a:t>
            </a:r>
            <a:r>
              <a:rPr lang="pt-BR" dirty="0" smtClean="0"/>
              <a:t>:</a:t>
            </a:r>
          </a:p>
          <a:p>
            <a:endParaRPr lang="pt-BR" dirty="0"/>
          </a:p>
          <a:p>
            <a:pPr lvl="1"/>
            <a:r>
              <a:rPr lang="pt-BR" i="1" dirty="0"/>
              <a:t>Custos com o pessoal</a:t>
            </a:r>
          </a:p>
          <a:p>
            <a:pPr lvl="1"/>
            <a:r>
              <a:rPr lang="pt-BR" i="1" dirty="0"/>
              <a:t>Uso do computador</a:t>
            </a:r>
          </a:p>
          <a:p>
            <a:pPr lvl="1"/>
            <a:r>
              <a:rPr lang="pt-BR" i="1" dirty="0"/>
              <a:t>Treinamento</a:t>
            </a:r>
          </a:p>
          <a:p>
            <a:pPr lvl="1"/>
            <a:r>
              <a:rPr lang="pt-BR" i="1" dirty="0"/>
              <a:t>Custos de equipamentos, duplicação e suprimentos</a:t>
            </a:r>
            <a:r>
              <a:rPr lang="pt-BR" dirty="0"/>
              <a:t>.</a:t>
            </a:r>
          </a:p>
          <a:p>
            <a:pPr lvl="1"/>
            <a:r>
              <a:rPr lang="pt-BR" i="1" dirty="0"/>
              <a:t>Custo de alguns novos equipamentos de computadores </a:t>
            </a:r>
            <a:r>
              <a:rPr lang="pt-BR" i="1" dirty="0" smtClean="0"/>
              <a:t>e software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274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Que Benefícios o Sistema Oferecerá?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Benefícios</a:t>
            </a:r>
            <a:r>
              <a:rPr lang="pt-BR" dirty="0"/>
              <a:t>, normalmente, aumentam os lucros ou diminuem </a:t>
            </a:r>
            <a:r>
              <a:rPr lang="pt-BR" dirty="0" smtClean="0"/>
              <a:t>os custos </a:t>
            </a:r>
            <a:r>
              <a:rPr lang="pt-BR" dirty="0"/>
              <a:t>(ambos são características altamente desejáveis para </a:t>
            </a:r>
            <a:r>
              <a:rPr lang="pt-BR" dirty="0" smtClean="0"/>
              <a:t>um novo </a:t>
            </a:r>
            <a:r>
              <a:rPr lang="pt-BR" dirty="0"/>
              <a:t>sistema de informação).</a:t>
            </a:r>
          </a:p>
          <a:p>
            <a:r>
              <a:rPr lang="pt-BR" dirty="0"/>
              <a:t> Tanto quanto possível, benefícios devem ser quantificados </a:t>
            </a:r>
            <a:r>
              <a:rPr lang="pt-BR" dirty="0" smtClean="0"/>
              <a:t>em dólares</a:t>
            </a:r>
            <a:r>
              <a:rPr lang="pt-BR" dirty="0"/>
              <a:t>.</a:t>
            </a:r>
          </a:p>
          <a:p>
            <a:r>
              <a:rPr lang="pt-BR" dirty="0"/>
              <a:t> Benefícios são classificados como </a:t>
            </a:r>
            <a:r>
              <a:rPr lang="pt-BR" b="1" dirty="0"/>
              <a:t>tangíveis </a:t>
            </a:r>
            <a:r>
              <a:rPr lang="pt-BR" dirty="0"/>
              <a:t>ou </a:t>
            </a:r>
            <a:r>
              <a:rPr lang="pt-BR" b="1" dirty="0"/>
              <a:t>intangíveis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764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 dirty="0" smtClean="0"/>
              <a:t>Fonte: Engenharia de Software - Universidade Federal de Pernambuco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5508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Ângulos">
  <a:themeElements>
    <a:clrScheme name="Ângulo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Â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Ângulo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18</TotalTime>
  <Words>960</Words>
  <Application>Microsoft Office PowerPoint</Application>
  <PresentationFormat>Apresentação na tela (4:3)</PresentationFormat>
  <Paragraphs>103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0" baseType="lpstr">
      <vt:lpstr>Ângulos</vt:lpstr>
      <vt:lpstr>Estudo de Viabilidade</vt:lpstr>
      <vt:lpstr>Apresentação do PowerPoint</vt:lpstr>
      <vt:lpstr>O devemos estudar?</vt:lpstr>
      <vt:lpstr>O que concluir ?</vt:lpstr>
      <vt:lpstr>Tipos de Testes</vt:lpstr>
      <vt:lpstr>Tipos de Testes</vt:lpstr>
      <vt:lpstr>Viabilidade Operacional</vt:lpstr>
      <vt:lpstr>Viabilidade Operacional</vt:lpstr>
      <vt:lpstr>Viabilidade Operacional</vt:lpstr>
      <vt:lpstr>Viabilidade Técnica</vt:lpstr>
      <vt:lpstr>Já possuímos a tecnologia necessária?</vt:lpstr>
      <vt:lpstr>Já possuímos o conhecimento  técnico necessário?</vt:lpstr>
      <vt:lpstr>Viabilidade de Cronograma</vt:lpstr>
      <vt:lpstr>Apresentação do PowerPoint</vt:lpstr>
      <vt:lpstr>Viabilidade Econômica</vt:lpstr>
      <vt:lpstr>Tipos de Custos</vt:lpstr>
      <vt:lpstr>Custos de Desenvolvimento  de Sistemas</vt:lpstr>
      <vt:lpstr>Que Benefícios o Sistema Oferecerá?</vt:lpstr>
      <vt:lpstr>Apresentação do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Estudo de Viabilidade</dc:title>
  <dc:creator>Lab-02 Micro 18</dc:creator>
  <cp:lastModifiedBy>Lab-02 Micro 18</cp:lastModifiedBy>
  <cp:revision>3</cp:revision>
  <dcterms:created xsi:type="dcterms:W3CDTF">2014-02-27T21:46:25Z</dcterms:created>
  <dcterms:modified xsi:type="dcterms:W3CDTF">2014-02-27T22:04:31Z</dcterms:modified>
</cp:coreProperties>
</file>